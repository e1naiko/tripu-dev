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  <p:sldMasterId id="2147483669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</p:sldIdLst>
  <p:sldSz cy="6858000" cx="9144000"/>
  <p:notesSz cx="6794500" cy="9925050"/>
  <p:embeddedFontLst>
    <p:embeddedFont>
      <p:font typeface="Raleway"/>
      <p:regular r:id="rId27"/>
      <p:bold r:id="rId28"/>
      <p:italic r:id="rId29"/>
      <p:boldItalic r:id="rId30"/>
    </p:embeddedFont>
    <p:embeddedFont>
      <p:font typeface="Raleway SemiBold"/>
      <p:regular r:id="rId31"/>
      <p:bold r:id="rId32"/>
      <p:italic r:id="rId33"/>
      <p:boldItalic r:id="rId34"/>
    </p:embeddedFont>
    <p:embeddedFont>
      <p:font typeface="Tahoma"/>
      <p:regular r:id="rId35"/>
      <p:bold r:id="rId36"/>
    </p:embeddedFont>
    <p:embeddedFont>
      <p:font typeface="Barlow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yqdOruqz3mpz46kAm1vZhEKYl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boldItalic.fntdata"/><Relationship Id="rId20" Type="http://schemas.openxmlformats.org/officeDocument/2006/relationships/slide" Target="slides/slide4.xml"/><Relationship Id="rId41" Type="http://customschemas.google.com/relationships/presentationmetadata" Target="metadata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aleway-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RalewaySemiBold-regular.fntdata"/><Relationship Id="rId30" Type="http://schemas.openxmlformats.org/officeDocument/2006/relationships/font" Target="fonts/Raleway-boldItalic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RalewaySemiBold-italic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RalewaySemiBold-bold.fntdata"/><Relationship Id="rId13" Type="http://schemas.openxmlformats.org/officeDocument/2006/relationships/slideMaster" Target="slideMasters/slideMaster10.xml"/><Relationship Id="rId35" Type="http://schemas.openxmlformats.org/officeDocument/2006/relationships/font" Target="fonts/Tahoma-regular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RalewaySemiBold-boldItalic.fntdata"/><Relationship Id="rId15" Type="http://schemas.openxmlformats.org/officeDocument/2006/relationships/slideMaster" Target="slideMasters/slideMaster12.xml"/><Relationship Id="rId37" Type="http://schemas.openxmlformats.org/officeDocument/2006/relationships/font" Target="fonts/BarlowLight-regular.fntdata"/><Relationship Id="rId14" Type="http://schemas.openxmlformats.org/officeDocument/2006/relationships/slideMaster" Target="slideMasters/slideMaster11.xml"/><Relationship Id="rId36" Type="http://schemas.openxmlformats.org/officeDocument/2006/relationships/font" Target="fonts/Tahoma-bold.fntdata"/><Relationship Id="rId17" Type="http://schemas.openxmlformats.org/officeDocument/2006/relationships/slide" Target="slides/slide1.xml"/><Relationship Id="rId39" Type="http://schemas.openxmlformats.org/officeDocument/2006/relationships/font" Target="fonts/BarlowLight-italic.fntdata"/><Relationship Id="rId16" Type="http://schemas.openxmlformats.org/officeDocument/2006/relationships/notesMaster" Target="notesMasters/notesMaster1.xml"/><Relationship Id="rId38" Type="http://schemas.openxmlformats.org/officeDocument/2006/relationships/font" Target="fonts/BarlowLight-bold.fntdata"/><Relationship Id="rId19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89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 txBox="1"/>
          <p:nvPr/>
        </p:nvSpPr>
        <p:spPr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Algoritmos, Datos y Programas</a:t>
            </a:r>
            <a:endParaRPr/>
          </a:p>
        </p:txBody>
      </p:sp>
      <p:sp>
        <p:nvSpPr>
          <p:cNvPr id="117" name="Google Shape;117;p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af4b37790_0_3:notes"/>
          <p:cNvSpPr/>
          <p:nvPr>
            <p:ph idx="2" type="sldImg"/>
          </p:nvPr>
        </p:nvSpPr>
        <p:spPr>
          <a:xfrm>
            <a:off x="901700" y="762000"/>
            <a:ext cx="49785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af4b37790_0_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daf4b37790_0_3:notes"/>
          <p:cNvSpPr txBox="1"/>
          <p:nvPr>
            <p:ph idx="12" type="sldNum"/>
          </p:nvPr>
        </p:nvSpPr>
        <p:spPr>
          <a:xfrm>
            <a:off x="3886200" y="9448800"/>
            <a:ext cx="28956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901700" y="762000"/>
            <a:ext cx="497840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ctrTitle"/>
          </p:nvPr>
        </p:nvSpPr>
        <p:spPr>
          <a:xfrm>
            <a:off x="1076325" y="2484800"/>
            <a:ext cx="4962600" cy="18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1039050" y="1371100"/>
            <a:ext cx="4742700" cy="4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86800" y="6165850"/>
            <a:ext cx="457200" cy="623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ctrTitle"/>
          </p:nvPr>
        </p:nvSpPr>
        <p:spPr>
          <a:xfrm>
            <a:off x="1085850" y="2708033"/>
            <a:ext cx="4676700" cy="15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8"/>
          <p:cNvSpPr txBox="1"/>
          <p:nvPr>
            <p:ph idx="1" type="subTitle"/>
          </p:nvPr>
        </p:nvSpPr>
        <p:spPr>
          <a:xfrm>
            <a:off x="1085850" y="4383635"/>
            <a:ext cx="4676700" cy="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807467"/>
            <a:ext cx="56409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" type="body"/>
          </p:nvPr>
        </p:nvSpPr>
        <p:spPr>
          <a:xfrm>
            <a:off x="457200" y="2661000"/>
            <a:ext cx="5640900" cy="3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457200" y="807467"/>
            <a:ext cx="56409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457200" y="2661000"/>
            <a:ext cx="2682600" cy="3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3415578" y="2661000"/>
            <a:ext cx="2682600" cy="3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 + 3 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807467"/>
            <a:ext cx="56409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457200" y="2661000"/>
            <a:ext cx="2563500" cy="3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73" name="Google Shape;73;p24"/>
          <p:cNvSpPr txBox="1"/>
          <p:nvPr>
            <p:ph idx="2" type="body"/>
          </p:nvPr>
        </p:nvSpPr>
        <p:spPr>
          <a:xfrm>
            <a:off x="3290250" y="2661000"/>
            <a:ext cx="2563500" cy="3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74" name="Google Shape;74;p24"/>
          <p:cNvSpPr txBox="1"/>
          <p:nvPr>
            <p:ph idx="3" type="body"/>
          </p:nvPr>
        </p:nvSpPr>
        <p:spPr>
          <a:xfrm>
            <a:off x="6123300" y="2661000"/>
            <a:ext cx="2563500" cy="3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type="title"/>
          </p:nvPr>
        </p:nvSpPr>
        <p:spPr>
          <a:xfrm>
            <a:off x="457200" y="807467"/>
            <a:ext cx="5640900" cy="1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/>
          <p:nvPr>
            <p:ph idx="1" type="body"/>
          </p:nvPr>
        </p:nvSpPr>
        <p:spPr>
          <a:xfrm>
            <a:off x="457200" y="5875079"/>
            <a:ext cx="8229600" cy="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 dar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0" type="dt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1" type="ft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1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rot="5400000">
            <a:off x="-539750" y="3024187"/>
            <a:ext cx="1889125" cy="809625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5DD"/>
            </a:gs>
            <a:gs pos="50000">
              <a:srgbClr val="00B5DD"/>
            </a:gs>
            <a:gs pos="100000">
              <a:srgbClr val="007BB9"/>
            </a:gs>
          </a:gsLst>
          <a:lin ang="16200000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12"/>
          <p:cNvSpPr/>
          <p:nvPr/>
        </p:nvSpPr>
        <p:spPr>
          <a:xfrm rot="5400000">
            <a:off x="-539750" y="1371600"/>
            <a:ext cx="1889125" cy="809625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12"/>
          <p:cNvSpPr txBox="1"/>
          <p:nvPr/>
        </p:nvSpPr>
        <p:spPr>
          <a:xfrm>
            <a:off x="19050" y="1244600"/>
            <a:ext cx="530225" cy="87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600"/>
              <a:buFont typeface="Raleway"/>
              <a:buNone/>
            </a:pPr>
            <a:r>
              <a:rPr b="1" i="1" lang="en-US" sz="8600" u="none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/>
          </a:p>
        </p:txBody>
      </p:sp>
      <p:sp>
        <p:nvSpPr>
          <p:cNvPr id="19" name="Google Shape;19;p12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" name="Google Shape;27;p14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686800" y="6165850"/>
            <a:ext cx="457200" cy="6238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/>
          <p:nvPr/>
        </p:nvSpPr>
        <p:spPr>
          <a:xfrm rot="5400000">
            <a:off x="-539750" y="3024187"/>
            <a:ext cx="1889125" cy="809625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19"/>
          <p:cNvSpPr/>
          <p:nvPr/>
        </p:nvSpPr>
        <p:spPr>
          <a:xfrm rot="5400000">
            <a:off x="-178593" y="1010443"/>
            <a:ext cx="625475" cy="26828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21"/>
          <p:cNvSpPr/>
          <p:nvPr/>
        </p:nvSpPr>
        <p:spPr>
          <a:xfrm rot="5400000">
            <a:off x="-178593" y="1010443"/>
            <a:ext cx="625475" cy="26828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" name="Google Shape;56;p21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23"/>
          <p:cNvSpPr/>
          <p:nvPr/>
        </p:nvSpPr>
        <p:spPr>
          <a:xfrm rot="5400000">
            <a:off x="-178593" y="1010443"/>
            <a:ext cx="625475" cy="26828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" name="Google Shape;67;p23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25"/>
          <p:cNvSpPr/>
          <p:nvPr/>
        </p:nvSpPr>
        <p:spPr>
          <a:xfrm rot="5400000">
            <a:off x="-178593" y="1010443"/>
            <a:ext cx="625475" cy="26828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" name="Google Shape;79;p25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27"/>
          <p:cNvSpPr/>
          <p:nvPr/>
        </p:nvSpPr>
        <p:spPr>
          <a:xfrm rot="5400000">
            <a:off x="-178593" y="5976143"/>
            <a:ext cx="625475" cy="268287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p27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7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5DD"/>
            </a:gs>
            <a:gs pos="50000">
              <a:srgbClr val="00B5DD"/>
            </a:gs>
            <a:gs pos="100000">
              <a:srgbClr val="007BB9"/>
            </a:gs>
          </a:gsLst>
          <a:lin ang="162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/>
          <p:nvPr/>
        </p:nvSpPr>
        <p:spPr>
          <a:xfrm flipH="1">
            <a:off x="8686800" y="6232525"/>
            <a:ext cx="468312" cy="62547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29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9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9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 Light"/>
              <a:buNone/>
              <a:defRPr b="1" i="1" sz="1200" u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rgbClr val="E9EAF2"/>
            </a:gs>
          </a:gsLst>
          <a:lin ang="16200000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title"/>
          </p:nvPr>
        </p:nvSpPr>
        <p:spPr>
          <a:xfrm>
            <a:off x="457200" y="808037"/>
            <a:ext cx="56403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31"/>
          <p:cNvSpPr txBox="1"/>
          <p:nvPr>
            <p:ph idx="1" type="body"/>
          </p:nvPr>
        </p:nvSpPr>
        <p:spPr>
          <a:xfrm>
            <a:off x="457200" y="2660650"/>
            <a:ext cx="5640387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1"/>
          <p:cNvSpPr txBox="1"/>
          <p:nvPr>
            <p:ph idx="10" type="dt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5" name="Google Shape;105;p31"/>
          <p:cNvSpPr txBox="1"/>
          <p:nvPr>
            <p:ph idx="11" type="ft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6" name="Google Shape;106;p31"/>
          <p:cNvSpPr txBox="1"/>
          <p:nvPr>
            <p:ph idx="12" type="sldNum"/>
          </p:nvPr>
        </p:nvSpPr>
        <p:spPr>
          <a:xfrm>
            <a:off x="8648700" y="6181725"/>
            <a:ext cx="457200" cy="6254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Light"/>
              <a:buNone/>
              <a:defRPr b="1" i="1" sz="12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transition spd="slow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wall-e" id="119" name="Google Shape;1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625" y="2928125"/>
            <a:ext cx="2379662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"/>
          <p:cNvSpPr txBox="1"/>
          <p:nvPr>
            <p:ph type="ctrTitle"/>
          </p:nvPr>
        </p:nvSpPr>
        <p:spPr>
          <a:xfrm>
            <a:off x="406675" y="304225"/>
            <a:ext cx="49626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400">
                <a:solidFill>
                  <a:srgbClr val="4A5066"/>
                </a:solidFill>
              </a:rPr>
              <a:t>MÓDULO CONCURRENTE</a:t>
            </a:r>
            <a:endParaRPr/>
          </a:p>
        </p:txBody>
      </p:sp>
      <p:sp>
        <p:nvSpPr>
          <p:cNvPr id="121" name="Google Shape;121;p1"/>
          <p:cNvSpPr txBox="1"/>
          <p:nvPr>
            <p:ph idx="4294967295" type="subTitle"/>
          </p:nvPr>
        </p:nvSpPr>
        <p:spPr>
          <a:xfrm>
            <a:off x="406687" y="2261888"/>
            <a:ext cx="795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"/>
              <a:buFont typeface="Barlow Light"/>
              <a:buChar char="▸"/>
            </a:pPr>
            <a:r>
              <a:rPr b="0" i="0" lang="en-US" sz="3200" u="none" cap="none" strike="noStrike">
                <a:solidFill>
                  <a:srgbClr val="3A3F50"/>
                </a:solidFill>
                <a:latin typeface="Barlow Light"/>
                <a:ea typeface="Barlow Light"/>
                <a:cs typeface="Barlow Light"/>
                <a:sym typeface="Barlow Light"/>
              </a:rPr>
              <a:t>Áreas privadas, parcialmente compartidas y compartidas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234884" y="109594"/>
            <a:ext cx="460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 II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5369275" y="5385575"/>
            <a:ext cx="410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Autores: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Alejandro Héctor Gonzalez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Silvana Lis Gallo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Junio 2021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78300" y="6257375"/>
            <a:ext cx="43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Este trabajo tiene licencia CC BY-NC 2.5 AR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af4b37790_0_3"/>
          <p:cNvSpPr txBox="1"/>
          <p:nvPr>
            <p:ph type="ctrTitle"/>
          </p:nvPr>
        </p:nvSpPr>
        <p:spPr>
          <a:xfrm>
            <a:off x="148075" y="614450"/>
            <a:ext cx="4962600" cy="4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RESUMEN</a:t>
            </a:r>
            <a:endParaRPr b="1" sz="3400"/>
          </a:p>
        </p:txBody>
      </p:sp>
      <p:sp>
        <p:nvSpPr>
          <p:cNvPr id="132" name="Google Shape;132;gdaf4b37790_0_3"/>
          <p:cNvSpPr txBox="1"/>
          <p:nvPr>
            <p:ph type="ctrTitle"/>
          </p:nvPr>
        </p:nvSpPr>
        <p:spPr>
          <a:xfrm>
            <a:off x="951625" y="4590700"/>
            <a:ext cx="4962600" cy="4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Palabras clave</a:t>
            </a:r>
            <a:endParaRPr b="1" sz="3400"/>
          </a:p>
        </p:txBody>
      </p:sp>
      <p:sp>
        <p:nvSpPr>
          <p:cNvPr id="133" name="Google Shape;133;gdaf4b37790_0_3"/>
          <p:cNvSpPr txBox="1"/>
          <p:nvPr/>
        </p:nvSpPr>
        <p:spPr>
          <a:xfrm>
            <a:off x="1330025" y="1870375"/>
            <a:ext cx="6497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En esta clase se presenta el manejo de </a:t>
            </a:r>
            <a:r>
              <a:rPr lang="en-US" sz="1900"/>
              <a:t>áreas</a:t>
            </a:r>
            <a:r>
              <a:rPr lang="en-US" sz="1900"/>
              <a:t> en el programa RINFO. Se </a:t>
            </a:r>
            <a:r>
              <a:rPr lang="en-US" sz="1900"/>
              <a:t>explican</a:t>
            </a:r>
            <a:r>
              <a:rPr lang="en-US" sz="1900"/>
              <a:t> las </a:t>
            </a:r>
            <a:r>
              <a:rPr lang="en-US" sz="1900"/>
              <a:t>áreas</a:t>
            </a:r>
            <a:r>
              <a:rPr lang="en-US" sz="1900"/>
              <a:t> compartidas, </a:t>
            </a:r>
            <a:r>
              <a:rPr lang="en-US" sz="1900"/>
              <a:t>parcialmente</a:t>
            </a:r>
            <a:r>
              <a:rPr lang="en-US" sz="1900"/>
              <a:t> compartidas y privadas</a:t>
            </a:r>
            <a:endParaRPr sz="1900"/>
          </a:p>
        </p:txBody>
      </p:sp>
      <p:sp>
        <p:nvSpPr>
          <p:cNvPr id="134" name="Google Shape;134;gdaf4b37790_0_3"/>
          <p:cNvSpPr txBox="1"/>
          <p:nvPr/>
        </p:nvSpPr>
        <p:spPr>
          <a:xfrm>
            <a:off x="1066800" y="5126175"/>
            <a:ext cx="649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RINFO, áreas compartidas, áreas parcialmente compartidas, áreas privadas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>
            <p:ph idx="1" type="body"/>
          </p:nvPr>
        </p:nvSpPr>
        <p:spPr>
          <a:xfrm>
            <a:off x="1039812" y="1371600"/>
            <a:ext cx="4741862" cy="477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18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Barlow Light"/>
              <a:buChar char="▸"/>
            </a:pPr>
            <a:r>
              <a:rPr b="0" i="0" lang="en-US" sz="4800" u="none">
                <a:solidFill>
                  <a:srgbClr val="FFFFFF"/>
                </a:solidFill>
                <a:latin typeface="Barlow Light"/>
                <a:ea typeface="Barlow Light"/>
                <a:cs typeface="Barlow Light"/>
                <a:sym typeface="Barlow Light"/>
              </a:rPr>
              <a:t>R-INFO</a:t>
            </a:r>
            <a:endParaRPr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2492896"/>
            <a:ext cx="8658337" cy="385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idx="4294967295" type="title"/>
          </p:nvPr>
        </p:nvSpPr>
        <p:spPr>
          <a:xfrm>
            <a:off x="1196975" y="765175"/>
            <a:ext cx="7947025" cy="10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R-INFO </a:t>
            </a:r>
            <a:br>
              <a:rPr b="0" i="0" lang="en-US" sz="65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¿Cómo se relaciona con la Programación Concurrente?</a:t>
            </a:r>
            <a:endParaRPr/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237" y="2693987"/>
            <a:ext cx="7778750" cy="273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490" y="3284984"/>
            <a:ext cx="3005406" cy="1697170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5000" kx="195000" rotWithShape="0" algn="tl" dir="12900000" dist="50800" ky="145000">
              <a:srgbClr val="000000">
                <a:alpha val="29803"/>
              </a:srgbClr>
            </a:outerShdw>
          </a:effec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idx="4294967295" type="title"/>
          </p:nvPr>
        </p:nvSpPr>
        <p:spPr>
          <a:xfrm>
            <a:off x="1196975" y="765175"/>
            <a:ext cx="7947025" cy="10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R-INFO 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</a:t>
            </a:r>
            <a:endParaRPr/>
          </a:p>
        </p:txBody>
      </p:sp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837" y="2219325"/>
            <a:ext cx="7699375" cy="382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611187" y="1965325"/>
            <a:ext cx="8137525" cy="4495800"/>
          </a:xfrm>
          <a:prstGeom prst="roundRect">
            <a:avLst>
              <a:gd fmla="val 792" name="adj"/>
            </a:avLst>
          </a:prstGeom>
          <a:solidFill>
            <a:srgbClr val="2F7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5"/>
          <p:cNvSpPr txBox="1"/>
          <p:nvPr>
            <p:ph idx="4294967295" type="title"/>
          </p:nvPr>
        </p:nvSpPr>
        <p:spPr>
          <a:xfrm>
            <a:off x="1196975" y="765175"/>
            <a:ext cx="7947025" cy="10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R-INFO 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</a:t>
            </a:r>
            <a:endParaRPr/>
          </a:p>
        </p:txBody>
      </p:sp>
      <p:grpSp>
        <p:nvGrpSpPr>
          <p:cNvPr id="160" name="Google Shape;160;p5"/>
          <p:cNvGrpSpPr/>
          <p:nvPr/>
        </p:nvGrpSpPr>
        <p:grpSpPr>
          <a:xfrm>
            <a:off x="684212" y="2032000"/>
            <a:ext cx="4175125" cy="4364037"/>
            <a:chOff x="4211960" y="2022323"/>
            <a:chExt cx="4175896" cy="4364202"/>
          </a:xfrm>
        </p:grpSpPr>
        <p:sp>
          <p:nvSpPr>
            <p:cNvPr id="161" name="Google Shape;161;p5"/>
            <p:cNvSpPr/>
            <p:nvPr/>
          </p:nvSpPr>
          <p:spPr>
            <a:xfrm>
              <a:off x="4211960" y="2022323"/>
              <a:ext cx="4175896" cy="4364202"/>
            </a:xfrm>
            <a:prstGeom prst="roundRect">
              <a:avLst>
                <a:gd fmla="val 49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4288174" y="2109639"/>
              <a:ext cx="4039346" cy="4246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programa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nombre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1" i="0" sz="2000" u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procesos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800"/>
                <a:buFont typeface="Consolas"/>
                <a:buNone/>
              </a:pPr>
              <a:r>
                <a:rPr b="0" i="1" lang="en-US" sz="18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Procesos utilizados por los robots</a:t>
              </a:r>
              <a:endParaRPr/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ahoma"/>
                <a:buNone/>
              </a:pPr>
              <a:r>
                <a:t/>
              </a:r>
              <a:endParaRPr b="0" i="0" sz="11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Áreas de la ciudad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robots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Robots del programa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Variables robots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Asignación de áreas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Inicialización de robots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 </a:t>
              </a:r>
              <a:endParaRPr/>
            </a:p>
          </p:txBody>
        </p:sp>
      </p:grpSp>
      <p:sp>
        <p:nvSpPr>
          <p:cNvPr id="163" name="Google Shape;163;p5"/>
          <p:cNvSpPr txBox="1"/>
          <p:nvPr/>
        </p:nvSpPr>
        <p:spPr>
          <a:xfrm>
            <a:off x="4930775" y="3500437"/>
            <a:ext cx="367347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</a:pPr>
            <a:r>
              <a:rPr b="0" i="0" lang="en-US" sz="40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Estructura de un programa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611187" y="1965325"/>
            <a:ext cx="8137525" cy="4495800"/>
          </a:xfrm>
          <a:prstGeom prst="roundRect">
            <a:avLst>
              <a:gd fmla="val 792" name="adj"/>
            </a:avLst>
          </a:prstGeom>
          <a:solidFill>
            <a:srgbClr val="2F7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6"/>
          <p:cNvSpPr txBox="1"/>
          <p:nvPr>
            <p:ph idx="4294967295" type="title"/>
          </p:nvPr>
        </p:nvSpPr>
        <p:spPr>
          <a:xfrm>
            <a:off x="1196975" y="765175"/>
            <a:ext cx="7947025" cy="10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AREAS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</a:t>
            </a:r>
            <a:endParaRPr/>
          </a:p>
        </p:txBody>
      </p:sp>
      <p:grpSp>
        <p:nvGrpSpPr>
          <p:cNvPr id="170" name="Google Shape;170;p6"/>
          <p:cNvGrpSpPr/>
          <p:nvPr/>
        </p:nvGrpSpPr>
        <p:grpSpPr>
          <a:xfrm>
            <a:off x="684212" y="2032000"/>
            <a:ext cx="4175125" cy="4364037"/>
            <a:chOff x="4211960" y="2022323"/>
            <a:chExt cx="4175896" cy="4364202"/>
          </a:xfrm>
        </p:grpSpPr>
        <p:sp>
          <p:nvSpPr>
            <p:cNvPr id="171" name="Google Shape;171;p6"/>
            <p:cNvSpPr/>
            <p:nvPr/>
          </p:nvSpPr>
          <p:spPr>
            <a:xfrm>
              <a:off x="4211960" y="2022323"/>
              <a:ext cx="4175896" cy="4364202"/>
            </a:xfrm>
            <a:prstGeom prst="roundRect">
              <a:avLst>
                <a:gd fmla="val 49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4288174" y="2109639"/>
              <a:ext cx="4039346" cy="4246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programa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nombre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1" i="0" sz="2000" u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procesos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800"/>
                <a:buFont typeface="Consolas"/>
                <a:buNone/>
              </a:pPr>
              <a:r>
                <a:rPr b="0" i="1" lang="en-US" sz="18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Procesos utilizados por los robots</a:t>
              </a:r>
              <a:endParaRPr/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ahoma"/>
                <a:buNone/>
              </a:pPr>
              <a:r>
                <a:t/>
              </a:r>
              <a:endParaRPr b="0" i="0" sz="11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Áreas de la ciudad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robots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Robots del programa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Variables robots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Asignación de áreas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Inicialización de robots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 </a:t>
              </a:r>
              <a:endParaRPr/>
            </a:p>
          </p:txBody>
        </p:sp>
      </p:grpSp>
      <p:sp>
        <p:nvSpPr>
          <p:cNvPr id="173" name="Google Shape;173;p6"/>
          <p:cNvSpPr/>
          <p:nvPr/>
        </p:nvSpPr>
        <p:spPr>
          <a:xfrm>
            <a:off x="3481387" y="2390775"/>
            <a:ext cx="5440362" cy="3887787"/>
          </a:xfrm>
          <a:prstGeom prst="roundRect">
            <a:avLst>
              <a:gd fmla="val 1805" name="adj"/>
            </a:avLst>
          </a:prstGeom>
          <a:solidFill>
            <a:schemeClr val="lt1"/>
          </a:solidFill>
          <a:ln cap="flat" cmpd="sng" w="254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9499999" dist="139700">
              <a:srgbClr val="000000">
                <a:alpha val="1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817937" y="2474912"/>
            <a:ext cx="4930775" cy="11699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ciudad1: 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areaC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(1,1,10,10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1" lang="en-US" sz="14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//área Compartida </a:t>
            </a:r>
            <a:endParaRPr b="0" i="1" sz="1600" u="none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ciudad2: 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areaP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(15,15,20,20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1" lang="en-US" sz="14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//área Privada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ciudad3: </a:t>
            </a:r>
            <a:r>
              <a:rPr b="1" i="0" lang="en-US" sz="18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areaPC</a:t>
            </a:r>
            <a:r>
              <a:rPr b="0" i="0" lang="en-US" sz="14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(30,32,50,51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1" lang="en-US" sz="14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//área Parcialmente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onsolas"/>
              <a:buNone/>
            </a:pPr>
            <a:r>
              <a:rPr b="0" i="1" lang="en-US" sz="14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			 compartida 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203575" y="3427412"/>
            <a:ext cx="485775" cy="476250"/>
          </a:xfrm>
          <a:prstGeom prst="rightArrow">
            <a:avLst>
              <a:gd fmla="val 11012" name="adj1"/>
              <a:gd fmla="val 50000" name="adj2"/>
            </a:avLst>
          </a:prstGeom>
          <a:solidFill>
            <a:schemeClr val="dk1"/>
          </a:solidFill>
          <a:ln>
            <a:noFill/>
          </a:ln>
          <a:effectLst>
            <a:outerShdw blurRad="635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727450" y="3748087"/>
            <a:ext cx="5022850" cy="2416175"/>
          </a:xfrm>
          <a:prstGeom prst="roundRect">
            <a:avLst>
              <a:gd fmla="val 1074" name="adj"/>
            </a:avLst>
          </a:prstGeom>
          <a:solidFill>
            <a:srgbClr val="2F767D">
              <a:alpha val="2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7" name="Google Shape;177;p6"/>
          <p:cNvGrpSpPr/>
          <p:nvPr/>
        </p:nvGrpSpPr>
        <p:grpSpPr>
          <a:xfrm>
            <a:off x="3727450" y="3683000"/>
            <a:ext cx="5021168" cy="2371347"/>
            <a:chOff x="3800075" y="3600818"/>
            <a:chExt cx="5006611" cy="2370896"/>
          </a:xfrm>
        </p:grpSpPr>
        <p:sp>
          <p:nvSpPr>
            <p:cNvPr id="178" name="Google Shape;178;p6"/>
            <p:cNvSpPr txBox="1"/>
            <p:nvPr/>
          </p:nvSpPr>
          <p:spPr>
            <a:xfrm>
              <a:off x="5136040" y="3600818"/>
              <a:ext cx="3487123" cy="969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900A8"/>
                </a:buClr>
                <a:buSzPts val="1900"/>
                <a:buFont typeface="Avenir"/>
                <a:buNone/>
              </a:pPr>
              <a:r>
                <a:rPr b="0" i="0" lang="en-US" sz="1900" u="none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Cualquier robot pueden circular por la misma. </a:t>
              </a:r>
              <a:r>
                <a:rPr b="1" i="0" lang="en-US" sz="1900" u="none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Todos los rob</a:t>
              </a:r>
              <a:r>
                <a:rPr b="1" lang="en-US" sz="1900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o</a:t>
              </a:r>
              <a:r>
                <a:rPr b="1" i="0" lang="en-US" sz="1900" u="none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ts a la vez</a:t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5150286" y="4538416"/>
              <a:ext cx="3512449" cy="677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900A8"/>
                </a:buClr>
                <a:buSzPts val="1900"/>
                <a:buFont typeface="Avenir"/>
                <a:buNone/>
              </a:pPr>
              <a:r>
                <a:rPr b="0" i="0" lang="en-US" sz="1900" u="none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Sólo puede haber en ella </a:t>
              </a:r>
              <a:r>
                <a:rPr b="1" i="0" lang="en-US" sz="1900" u="sng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un único robot</a:t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5150286" y="5294614"/>
              <a:ext cx="3656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900A8"/>
                </a:buClr>
                <a:buSzPts val="1900"/>
                <a:buFont typeface="Avenir"/>
                <a:buNone/>
              </a:pPr>
              <a:r>
                <a:rPr lang="en-US" sz="1900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Un subgrupo de robots pueden ingresar a dicha área</a:t>
              </a:r>
              <a:r>
                <a:rPr b="0" i="0" lang="en-US" sz="1900" u="none">
                  <a:solidFill>
                    <a:srgbClr val="3900A8"/>
                  </a:solidFill>
                  <a:latin typeface="Avenir"/>
                  <a:ea typeface="Avenir"/>
                  <a:cs typeface="Avenir"/>
                  <a:sym typeface="Avenir"/>
                </a:rPr>
                <a:t>.</a:t>
              </a:r>
              <a:endParaRPr/>
            </a:p>
          </p:txBody>
        </p:sp>
        <p:grpSp>
          <p:nvGrpSpPr>
            <p:cNvPr id="181" name="Google Shape;181;p6"/>
            <p:cNvGrpSpPr/>
            <p:nvPr/>
          </p:nvGrpSpPr>
          <p:grpSpPr>
            <a:xfrm>
              <a:off x="3831372" y="3781160"/>
              <a:ext cx="1348990" cy="647717"/>
              <a:chOff x="4755612" y="3723863"/>
              <a:chExt cx="1348990" cy="489492"/>
            </a:xfrm>
          </p:grpSpPr>
          <p:sp>
            <p:nvSpPr>
              <p:cNvPr id="182" name="Google Shape;182;p6"/>
              <p:cNvSpPr/>
              <p:nvPr/>
            </p:nvSpPr>
            <p:spPr>
              <a:xfrm>
                <a:off x="4755612" y="3723863"/>
                <a:ext cx="1348990" cy="489492"/>
              </a:xfrm>
              <a:prstGeom prst="homePlate">
                <a:avLst>
                  <a:gd fmla="val 17681" name="adj"/>
                </a:avLst>
              </a:prstGeom>
              <a:solidFill>
                <a:srgbClr val="2F767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3" name="Google Shape;183;p6"/>
              <p:cNvSpPr txBox="1"/>
              <p:nvPr/>
            </p:nvSpPr>
            <p:spPr>
              <a:xfrm>
                <a:off x="4814540" y="3724572"/>
                <a:ext cx="1176453" cy="474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venir"/>
                  <a:buNone/>
                </a:pPr>
                <a:r>
                  <a:rPr b="0" i="0" lang="en-US" sz="24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areaC</a:t>
                </a:r>
                <a:endParaRPr/>
              </a:p>
              <a:p>
                <a:pPr indent="0" lvl="0" marL="0" marR="0" rtl="0" algn="l">
                  <a:lnSpc>
                    <a:spcPct val="11818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Avenir"/>
                  <a:buNone/>
                </a:pPr>
                <a:r>
                  <a:rPr b="0" i="0" lang="en-US" sz="11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Compartida</a:t>
                </a:r>
                <a:endParaRPr/>
              </a:p>
            </p:txBody>
          </p:sp>
        </p:grpSp>
        <p:grpSp>
          <p:nvGrpSpPr>
            <p:cNvPr id="184" name="Google Shape;184;p6"/>
            <p:cNvGrpSpPr/>
            <p:nvPr/>
          </p:nvGrpSpPr>
          <p:grpSpPr>
            <a:xfrm>
              <a:off x="3800075" y="4551988"/>
              <a:ext cx="1372372" cy="648435"/>
              <a:chOff x="4669580" y="4351080"/>
              <a:chExt cx="1372372" cy="497264"/>
            </a:xfrm>
          </p:grpSpPr>
          <p:sp>
            <p:nvSpPr>
              <p:cNvPr id="185" name="Google Shape;185;p6"/>
              <p:cNvSpPr/>
              <p:nvPr/>
            </p:nvSpPr>
            <p:spPr>
              <a:xfrm>
                <a:off x="4669580" y="4358935"/>
                <a:ext cx="1372372" cy="489409"/>
              </a:xfrm>
              <a:prstGeom prst="homePlate">
                <a:avLst>
                  <a:gd fmla="val 17749" name="adj"/>
                </a:avLst>
              </a:prstGeom>
              <a:solidFill>
                <a:srgbClr val="2F767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6" name="Google Shape;186;p6"/>
              <p:cNvSpPr txBox="1"/>
              <p:nvPr/>
            </p:nvSpPr>
            <p:spPr>
              <a:xfrm>
                <a:off x="4917672" y="4351080"/>
                <a:ext cx="1003558" cy="4838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venir"/>
                  <a:buNone/>
                </a:pPr>
                <a:r>
                  <a:rPr b="0" i="0" lang="en-US" sz="24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areaP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Avenir"/>
                  <a:buNone/>
                </a:pPr>
                <a:r>
                  <a:rPr b="0" i="0" lang="en-US" sz="11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Privada</a:t>
                </a:r>
                <a:endParaRPr/>
              </a:p>
            </p:txBody>
          </p:sp>
        </p:grpSp>
        <p:grpSp>
          <p:nvGrpSpPr>
            <p:cNvPr id="187" name="Google Shape;187;p6"/>
            <p:cNvGrpSpPr/>
            <p:nvPr/>
          </p:nvGrpSpPr>
          <p:grpSpPr>
            <a:xfrm>
              <a:off x="3800075" y="5316312"/>
              <a:ext cx="1633489" cy="639779"/>
              <a:chOff x="3852693" y="4998648"/>
              <a:chExt cx="1633489" cy="641218"/>
            </a:xfrm>
          </p:grpSpPr>
          <p:sp>
            <p:nvSpPr>
              <p:cNvPr id="188" name="Google Shape;188;p6"/>
              <p:cNvSpPr/>
              <p:nvPr/>
            </p:nvSpPr>
            <p:spPr>
              <a:xfrm>
                <a:off x="3852693" y="4998648"/>
                <a:ext cx="1375538" cy="641218"/>
              </a:xfrm>
              <a:prstGeom prst="homePlate">
                <a:avLst>
                  <a:gd fmla="val 16565" name="adj"/>
                </a:avLst>
              </a:prstGeom>
              <a:solidFill>
                <a:srgbClr val="2F767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" name="Google Shape;189;p6"/>
              <p:cNvSpPr txBox="1"/>
              <p:nvPr/>
            </p:nvSpPr>
            <p:spPr>
              <a:xfrm>
                <a:off x="3942918" y="5003081"/>
                <a:ext cx="1543264" cy="6309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Avenir"/>
                  <a:buNone/>
                </a:pPr>
                <a:r>
                  <a:rPr b="0" i="0" lang="en-US" sz="24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areaPC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Avenir"/>
                  <a:buNone/>
                </a:pPr>
                <a:r>
                  <a:rPr b="0" i="0" lang="en-US" sz="1100" u="none">
                    <a:solidFill>
                      <a:schemeClr val="lt1"/>
                    </a:solidFill>
                    <a:latin typeface="Avenir"/>
                    <a:ea typeface="Avenir"/>
                    <a:cs typeface="Avenir"/>
                    <a:sym typeface="Avenir"/>
                  </a:rPr>
                  <a:t>Parc. Comp.</a:t>
                </a:r>
                <a:endParaRPr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611187" y="1965325"/>
            <a:ext cx="8137525" cy="4495800"/>
          </a:xfrm>
          <a:prstGeom prst="roundRect">
            <a:avLst>
              <a:gd fmla="val 792" name="adj"/>
            </a:avLst>
          </a:prstGeom>
          <a:solidFill>
            <a:srgbClr val="2F7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7"/>
          <p:cNvSpPr txBox="1"/>
          <p:nvPr>
            <p:ph idx="4294967295" type="title"/>
          </p:nvPr>
        </p:nvSpPr>
        <p:spPr>
          <a:xfrm>
            <a:off x="1196975" y="765175"/>
            <a:ext cx="7947025" cy="10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Asignación Explícita 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</a:t>
            </a:r>
            <a:endParaRPr/>
          </a:p>
        </p:txBody>
      </p:sp>
      <p:grpSp>
        <p:nvGrpSpPr>
          <p:cNvPr id="196" name="Google Shape;196;p7"/>
          <p:cNvGrpSpPr/>
          <p:nvPr/>
        </p:nvGrpSpPr>
        <p:grpSpPr>
          <a:xfrm>
            <a:off x="684212" y="2032000"/>
            <a:ext cx="4175125" cy="4364037"/>
            <a:chOff x="4211960" y="2022323"/>
            <a:chExt cx="4175896" cy="4364202"/>
          </a:xfrm>
        </p:grpSpPr>
        <p:sp>
          <p:nvSpPr>
            <p:cNvPr id="197" name="Google Shape;197;p7"/>
            <p:cNvSpPr/>
            <p:nvPr/>
          </p:nvSpPr>
          <p:spPr>
            <a:xfrm>
              <a:off x="4211960" y="2022323"/>
              <a:ext cx="4175896" cy="4364202"/>
            </a:xfrm>
            <a:prstGeom prst="roundRect">
              <a:avLst>
                <a:gd fmla="val 49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4288174" y="2109639"/>
              <a:ext cx="4039346" cy="4246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programa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nombre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1" i="0" sz="2000" u="non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procesos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800"/>
                <a:buFont typeface="Consolas"/>
                <a:buNone/>
              </a:pPr>
              <a:r>
                <a:rPr b="0" i="1" lang="en-US" sz="18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Procesos utilizados por los robots</a:t>
              </a:r>
              <a:endParaRPr/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Tahoma"/>
                <a:buNone/>
              </a:pPr>
              <a:r>
                <a:t/>
              </a:r>
              <a:endParaRPr b="0" i="0" sz="11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areas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Áreas de la ciudad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robots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Robots del programa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variables</a:t>
              </a:r>
              <a:r>
                <a:rPr b="0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// Variables robots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comenzar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Asignación de áreas </a:t>
              </a:r>
              <a:endParaRPr/>
            </a:p>
            <a:p>
              <a:pPr indent="0" lvl="0" marL="0" marR="0" rtl="0" algn="l">
                <a:lnSpc>
                  <a:spcPct val="112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600"/>
                <a:buFont typeface="Consolas"/>
                <a:buNone/>
              </a:pPr>
              <a:r>
                <a:rPr b="0" i="1" lang="en-US" sz="1600" u="none">
                  <a:solidFill>
                    <a:srgbClr val="0070C0"/>
                  </a:solidFill>
                  <a:latin typeface="Consolas"/>
                  <a:ea typeface="Consolas"/>
                  <a:cs typeface="Consolas"/>
                  <a:sym typeface="Consolas"/>
                </a:rPr>
                <a:t>  // Inicialización de robots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nsolas"/>
                <a:buNone/>
              </a:pPr>
              <a:r>
                <a:rPr b="1" i="0" lang="en-US" sz="2000" u="non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 </a:t>
              </a:r>
              <a:endParaRPr/>
            </a:p>
          </p:txBody>
        </p:sp>
      </p:grpSp>
      <p:sp>
        <p:nvSpPr>
          <p:cNvPr id="199" name="Google Shape;199;p7"/>
          <p:cNvSpPr/>
          <p:nvPr/>
        </p:nvSpPr>
        <p:spPr>
          <a:xfrm>
            <a:off x="4386262" y="5414962"/>
            <a:ext cx="4537075" cy="1330325"/>
          </a:xfrm>
          <a:prstGeom prst="roundRect">
            <a:avLst>
              <a:gd fmla="val 1805" name="adj"/>
            </a:avLst>
          </a:prstGeom>
          <a:solidFill>
            <a:schemeClr val="lt1"/>
          </a:solidFill>
          <a:ln cap="flat" cmpd="sng" w="254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19499999" dist="139700">
              <a:srgbClr val="000000">
                <a:alpha val="1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4500562" y="5651500"/>
            <a:ext cx="4394200" cy="8302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onsolas"/>
              <a:buNone/>
            </a:pPr>
            <a:r>
              <a:rPr b="0" i="1" lang="en-US" sz="1600" u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//AsignarArea(variableRobot,nombreArea)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AsignarArea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(r1,ciudad1)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iniciar</a:t>
            </a:r>
            <a:r>
              <a:rPr b="0" i="0" lang="en-US" sz="1600" u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(r1, 5, 5)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792537" y="5618162"/>
            <a:ext cx="708025" cy="476250"/>
          </a:xfrm>
          <a:prstGeom prst="rightArrow">
            <a:avLst>
              <a:gd fmla="val 14335" name="adj1"/>
              <a:gd fmla="val 50000" name="adj2"/>
            </a:avLst>
          </a:prstGeom>
          <a:solidFill>
            <a:schemeClr val="dk1"/>
          </a:solidFill>
          <a:ln>
            <a:noFill/>
          </a:ln>
          <a:effectLst>
            <a:outerShdw blurRad="635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4930775" y="3500437"/>
            <a:ext cx="367347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venir"/>
              <a:buNone/>
            </a:pPr>
            <a:r>
              <a:rPr b="0" i="0" lang="en-US" sz="4000" u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Estructura de un programa</a:t>
            </a: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5682087" y="1805741"/>
            <a:ext cx="3769462" cy="3767217"/>
            <a:chOff x="5682861" y="1805044"/>
            <a:chExt cx="3767883" cy="3767883"/>
          </a:xfrm>
        </p:grpSpPr>
        <p:sp>
          <p:nvSpPr>
            <p:cNvPr id="204" name="Google Shape;204;p7"/>
            <p:cNvSpPr/>
            <p:nvPr/>
          </p:nvSpPr>
          <p:spPr>
            <a:xfrm rot="8100000">
              <a:off x="6234655" y="2356838"/>
              <a:ext cx="2664296" cy="2664296"/>
            </a:xfrm>
            <a:custGeom>
              <a:rect b="b" l="l" r="r" t="t"/>
              <a:pathLst>
                <a:path extrusionOk="0" h="2664296" w="2664296">
                  <a:moveTo>
                    <a:pt x="0" y="1332148"/>
                  </a:moveTo>
                  <a:cubicBezTo>
                    <a:pt x="0" y="596423"/>
                    <a:pt x="596423" y="0"/>
                    <a:pt x="1332148" y="0"/>
                  </a:cubicBezTo>
                  <a:lnTo>
                    <a:pt x="2664296" y="0"/>
                  </a:lnTo>
                  <a:lnTo>
                    <a:pt x="2664296" y="1332148"/>
                  </a:lnTo>
                  <a:cubicBezTo>
                    <a:pt x="2664296" y="2067873"/>
                    <a:pt x="2067873" y="2664296"/>
                    <a:pt x="1332148" y="2664296"/>
                  </a:cubicBezTo>
                  <a:cubicBezTo>
                    <a:pt x="596423" y="2664296"/>
                    <a:pt x="0" y="2067873"/>
                    <a:pt x="0" y="1332148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5400">
              <a:solidFill>
                <a:srgbClr val="2F767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6363767" y="3104297"/>
              <a:ext cx="2327795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Un robot puede estar asignado a 1 ó más de un áreas del programa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/>
          <p:nvPr>
            <p:ph idx="4294967295" type="title"/>
          </p:nvPr>
        </p:nvSpPr>
        <p:spPr>
          <a:xfrm>
            <a:off x="0" y="325437"/>
            <a:ext cx="75438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EJERCICIOS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  –  R-Info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314325" y="1916112"/>
            <a:ext cx="84963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r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Se quiere realizar un programa donde existen dos robots y dos areas </a:t>
            </a:r>
            <a:r>
              <a:rPr b="1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privadas</a:t>
            </a:r>
            <a:r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(una para cada uno). Cada uno de estos robots realiza algunos pasos y luego intenta posicionarse en una esquina determinada. </a:t>
            </a:r>
            <a:endParaRPr/>
          </a:p>
        </p:txBody>
      </p:sp>
      <p:grpSp>
        <p:nvGrpSpPr>
          <p:cNvPr id="212" name="Google Shape;212;p8"/>
          <p:cNvGrpSpPr/>
          <p:nvPr/>
        </p:nvGrpSpPr>
        <p:grpSpPr>
          <a:xfrm>
            <a:off x="476250" y="3071812"/>
            <a:ext cx="7608887" cy="522287"/>
            <a:chOff x="1120063" y="2404761"/>
            <a:chExt cx="7609868" cy="520833"/>
          </a:xfrm>
        </p:grpSpPr>
        <p:sp>
          <p:nvSpPr>
            <p:cNvPr id="213" name="Google Shape;213;p8"/>
            <p:cNvSpPr txBox="1"/>
            <p:nvPr/>
          </p:nvSpPr>
          <p:spPr>
            <a:xfrm>
              <a:off x="1672584" y="2450670"/>
              <a:ext cx="7057347" cy="370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Analice la solución presentada en el </a:t>
              </a:r>
              <a:r>
                <a:rPr b="1" i="1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Ejercicio2-1a</a:t>
              </a:r>
              <a:r>
                <a:rPr b="0" i="0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y verifique si funciona. </a:t>
              </a:r>
              <a:endParaRPr/>
            </a:p>
          </p:txBody>
        </p:sp>
        <p:pic>
          <p:nvPicPr>
            <p:cNvPr id="214" name="Google Shape;21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0063" y="2404761"/>
              <a:ext cx="551892" cy="5208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" name="Google Shape;215;p8"/>
          <p:cNvGrpSpPr/>
          <p:nvPr/>
        </p:nvGrpSpPr>
        <p:grpSpPr>
          <a:xfrm>
            <a:off x="468312" y="3824287"/>
            <a:ext cx="7608887" cy="522287"/>
            <a:chOff x="1120063" y="2404761"/>
            <a:chExt cx="7609868" cy="520833"/>
          </a:xfrm>
        </p:grpSpPr>
        <p:sp>
          <p:nvSpPr>
            <p:cNvPr id="216" name="Google Shape;216;p8"/>
            <p:cNvSpPr txBox="1"/>
            <p:nvPr/>
          </p:nvSpPr>
          <p:spPr>
            <a:xfrm>
              <a:off x="1672584" y="2450670"/>
              <a:ext cx="7057347" cy="370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Analice la solución presentada en el </a:t>
              </a:r>
              <a:r>
                <a:rPr b="1" i="1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Ejercicio2-1b</a:t>
              </a:r>
              <a:r>
                <a:rPr b="0" i="0" lang="en-US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y verifique si funciona. </a:t>
              </a:r>
              <a:endParaRPr/>
            </a:p>
          </p:txBody>
        </p:sp>
        <p:pic>
          <p:nvPicPr>
            <p:cNvPr id="217" name="Google Shape;21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0063" y="2404761"/>
              <a:ext cx="551892" cy="5208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8"/>
          <p:cNvGrpSpPr/>
          <p:nvPr/>
        </p:nvGrpSpPr>
        <p:grpSpPr>
          <a:xfrm>
            <a:off x="468312" y="5338762"/>
            <a:ext cx="8207375" cy="893762"/>
            <a:chOff x="468313" y="5338763"/>
            <a:chExt cx="8207375" cy="893762"/>
          </a:xfrm>
        </p:grpSpPr>
        <p:sp>
          <p:nvSpPr>
            <p:cNvPr id="219" name="Google Shape;219;p8"/>
            <p:cNvSpPr txBox="1"/>
            <p:nvPr/>
          </p:nvSpPr>
          <p:spPr>
            <a:xfrm>
              <a:off x="1362075" y="5648325"/>
              <a:ext cx="47672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Escriba la solución correcta.</a:t>
              </a:r>
              <a:endParaRPr/>
            </a:p>
          </p:txBody>
        </p:sp>
        <p:pic>
          <p:nvPicPr>
            <p:cNvPr descr="Imagen relacionada" id="220" name="Google Shape;220;p8"/>
            <p:cNvPicPr preferRelativeResize="0"/>
            <p:nvPr/>
          </p:nvPicPr>
          <p:blipFill rotWithShape="1">
            <a:blip r:embed="rId4">
              <a:alphaModFix/>
            </a:blip>
            <a:srcRect b="22754" l="12211" r="68015" t="30320"/>
            <a:stretch/>
          </p:blipFill>
          <p:spPr>
            <a:xfrm>
              <a:off x="630238" y="5338763"/>
              <a:ext cx="541337" cy="8588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8"/>
            <p:cNvSpPr/>
            <p:nvPr/>
          </p:nvSpPr>
          <p:spPr>
            <a:xfrm>
              <a:off x="468313" y="5373688"/>
              <a:ext cx="8207375" cy="858837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0084A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>
            <p:ph idx="4294967295" type="title"/>
          </p:nvPr>
        </p:nvSpPr>
        <p:spPr>
          <a:xfrm>
            <a:off x="0" y="325437"/>
            <a:ext cx="75438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EJERCICIOS</a:t>
            </a:r>
            <a:br>
              <a:rPr b="0" i="0" lang="en-US" sz="72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</a:br>
            <a:r>
              <a:rPr b="0" i="0" lang="en-US" sz="2800" u="none" cap="none" strike="noStrike">
                <a:solidFill>
                  <a:srgbClr val="616986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Programación Concurrente  –  R-Info</a:t>
            </a:r>
            <a:endParaRPr/>
          </a:p>
        </p:txBody>
      </p:sp>
      <p:grpSp>
        <p:nvGrpSpPr>
          <p:cNvPr id="227" name="Google Shape;227;p9"/>
          <p:cNvGrpSpPr/>
          <p:nvPr/>
        </p:nvGrpSpPr>
        <p:grpSpPr>
          <a:xfrm>
            <a:off x="469900" y="1836737"/>
            <a:ext cx="7918451" cy="1230312"/>
            <a:chOff x="469245" y="1874066"/>
            <a:chExt cx="7919179" cy="1232368"/>
          </a:xfrm>
        </p:grpSpPr>
        <p:sp>
          <p:nvSpPr>
            <p:cNvPr id="228" name="Google Shape;228;p9"/>
            <p:cNvSpPr txBox="1"/>
            <p:nvPr/>
          </p:nvSpPr>
          <p:spPr>
            <a:xfrm>
              <a:off x="1199562" y="1874066"/>
              <a:ext cx="7188862" cy="1232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Ejercicio 2-2a:</a:t>
              </a: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Realice un programa donde un robot recorra el perímetro de un rectángulo de un tamaño 3x5 (base 3 ,altura 5) y devuelva las flores encontradas. Inicialmente el robot se encuentra en la esquina (2,2)  </a:t>
              </a:r>
              <a:endParaRPr/>
            </a:p>
          </p:txBody>
        </p:sp>
        <p:pic>
          <p:nvPicPr>
            <p:cNvPr descr="Imagen relacionada" id="229" name="Google Shape;229;p9"/>
            <p:cNvPicPr preferRelativeResize="0"/>
            <p:nvPr/>
          </p:nvPicPr>
          <p:blipFill rotWithShape="1">
            <a:blip r:embed="rId3">
              <a:alphaModFix/>
            </a:blip>
            <a:srcRect b="22754" l="12211" r="68015" t="30320"/>
            <a:stretch/>
          </p:blipFill>
          <p:spPr>
            <a:xfrm>
              <a:off x="469245" y="2027020"/>
              <a:ext cx="540700" cy="8587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9"/>
          <p:cNvGrpSpPr/>
          <p:nvPr/>
        </p:nvGrpSpPr>
        <p:grpSpPr>
          <a:xfrm>
            <a:off x="449262" y="3195637"/>
            <a:ext cx="7918451" cy="1539875"/>
            <a:chOff x="448707" y="3251472"/>
            <a:chExt cx="7919179" cy="1538883"/>
          </a:xfrm>
        </p:grpSpPr>
        <p:sp>
          <p:nvSpPr>
            <p:cNvPr id="231" name="Google Shape;231;p9"/>
            <p:cNvSpPr txBox="1"/>
            <p:nvPr/>
          </p:nvSpPr>
          <p:spPr>
            <a:xfrm>
              <a:off x="1179024" y="3251472"/>
              <a:ext cx="7188862" cy="1538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Ejercicio 2-2b:</a:t>
              </a: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Realice un programa con dos robots donde cada uno recorra el perímetro de un rectángulo y devuelva las flores encontradas. Inicialmente cada robot se encuentra en la esquina (2,2) y (6,2) respectivamente. El primer robot hace un rectángulo de 3x5 y el otro de 3x7.  </a:t>
              </a:r>
              <a:endParaRPr/>
            </a:p>
          </p:txBody>
        </p:sp>
        <p:pic>
          <p:nvPicPr>
            <p:cNvPr descr="Imagen relacionada" id="232" name="Google Shape;232;p9"/>
            <p:cNvPicPr preferRelativeResize="0"/>
            <p:nvPr/>
          </p:nvPicPr>
          <p:blipFill rotWithShape="1">
            <a:blip r:embed="rId4">
              <a:alphaModFix/>
            </a:blip>
            <a:srcRect b="22754" l="12211" r="68015" t="30320"/>
            <a:stretch/>
          </p:blipFill>
          <p:spPr>
            <a:xfrm>
              <a:off x="448707" y="3557706"/>
              <a:ext cx="540700" cy="8587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9"/>
          <p:cNvGrpSpPr/>
          <p:nvPr/>
        </p:nvGrpSpPr>
        <p:grpSpPr>
          <a:xfrm>
            <a:off x="469900" y="4935537"/>
            <a:ext cx="7918451" cy="1231900"/>
            <a:chOff x="448707" y="3405808"/>
            <a:chExt cx="7919179" cy="1230255"/>
          </a:xfrm>
        </p:grpSpPr>
        <p:sp>
          <p:nvSpPr>
            <p:cNvPr id="234" name="Google Shape;234;p9"/>
            <p:cNvSpPr txBox="1"/>
            <p:nvPr/>
          </p:nvSpPr>
          <p:spPr>
            <a:xfrm>
              <a:off x="1179024" y="3405808"/>
              <a:ext cx="7188862" cy="1230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Ejercicio 2-2c:</a:t>
              </a:r>
              <a:r>
                <a:rPr b="0" i="0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¿Qué cambiaría en la solución anterior si ahora tenemos 4 robots todos haciendo rectángulos de 3x5? Implemente la solución con los robots ubicados en las esquinas: (2,2), (6,2), (10,2) y (14,2) respectivamente.</a:t>
              </a:r>
              <a:endParaRPr/>
            </a:p>
          </p:txBody>
        </p:sp>
        <p:pic>
          <p:nvPicPr>
            <p:cNvPr descr="Imagen relacionada" id="235" name="Google Shape;235;p9"/>
            <p:cNvPicPr preferRelativeResize="0"/>
            <p:nvPr/>
          </p:nvPicPr>
          <p:blipFill rotWithShape="1">
            <a:blip r:embed="rId4">
              <a:alphaModFix/>
            </a:blip>
            <a:srcRect b="22754" l="12211" r="68015" t="30320"/>
            <a:stretch/>
          </p:blipFill>
          <p:spPr>
            <a:xfrm>
              <a:off x="448707" y="3557706"/>
              <a:ext cx="540700" cy="8587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6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9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0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1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8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5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7_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2010-04-05T18:23:31Z</dcterms:created>
  <dc:creator>Admin</dc:creator>
</cp:coreProperties>
</file>